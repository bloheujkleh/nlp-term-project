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806e72d7cb4f61" /><Relationship Type="http://schemas.openxmlformats.org/officeDocument/2006/relationships/extended-properties" Target="/docProps/app.xml" Id="R4bdd0624b9f84455" /><Relationship Type="http://schemas.openxmlformats.org/officeDocument/2006/relationships/officeDocument" Target="/ppt/presentation.xml" Id="R32eaa530a30442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2a9bbc44104829"/>
  </p:sldMasterIdLst>
  <p:notesMasterIdLst>
    <p:notesMasterId xmlns:r="http://schemas.openxmlformats.org/officeDocument/2006/relationships" r:id="Ra99e25f082234d4f"/>
  </p:notesMasterIdLst>
  <p:sldIdLst>
    <p:sldId xmlns:r="http://schemas.openxmlformats.org/officeDocument/2006/relationships" id="256" r:id="R17f5897ad8004b43"/>
    <p:sldId xmlns:r="http://schemas.openxmlformats.org/officeDocument/2006/relationships" id="257" r:id="R09eb21072b264ef5"/>
    <p:sldId xmlns:r="http://schemas.openxmlformats.org/officeDocument/2006/relationships" id="258" r:id="R3353b5e31bad4a79"/>
    <p:sldId xmlns:r="http://schemas.openxmlformats.org/officeDocument/2006/relationships" id="259" r:id="Rb8f411775fba41e1"/>
    <p:sldId xmlns:r="http://schemas.openxmlformats.org/officeDocument/2006/relationships" id="260" r:id="Re4fc3c7f92fc411c"/>
    <p:sldId xmlns:r="http://schemas.openxmlformats.org/officeDocument/2006/relationships" id="261" r:id="Rc8946a4cb9f348b7"/>
    <p:sldId xmlns:r="http://schemas.openxmlformats.org/officeDocument/2006/relationships" id="262" r:id="R1abc75af5feb40cd"/>
    <p:sldId xmlns:r="http://schemas.openxmlformats.org/officeDocument/2006/relationships" id="263" r:id="R314a02568da4427b"/>
    <p:sldId xmlns:r="http://schemas.openxmlformats.org/officeDocument/2006/relationships" id="264" r:id="Rac94f07adde74345"/>
    <p:sldId xmlns:r="http://schemas.openxmlformats.org/officeDocument/2006/relationships" id="265" r:id="R86a375cd6d1d4b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2a9bbc44104829" /><Relationship Type="http://schemas.openxmlformats.org/officeDocument/2006/relationships/theme" Target="/ppt/theme/theme1.xml" Id="Rf4d7f76467aa44b5" /><Relationship Type="http://schemas.openxmlformats.org/officeDocument/2006/relationships/notesMaster" Target="/ppt/notesMasters/notesMaster1.xml" Id="Ra99e25f082234d4f" /><Relationship Type="http://schemas.openxmlformats.org/officeDocument/2006/relationships/presProps" Target="/ppt/presProps.xml" Id="R08f3647e39de48f8" /><Relationship Type="http://schemas.openxmlformats.org/officeDocument/2006/relationships/viewProps" Target="/ppt/viewProps.xml" Id="R3c0c0287a0e74a89" /><Relationship Type="http://schemas.openxmlformats.org/officeDocument/2006/relationships/tableStyles" Target="/ppt/tableStyles.xml" Id="R27f18a4ef93343d2" /><Relationship Type="http://schemas.openxmlformats.org/officeDocument/2006/relationships/slide" Target="/ppt/slides/slide1.xml" Id="R17f5897ad8004b43" /><Relationship Type="http://schemas.openxmlformats.org/officeDocument/2006/relationships/slide" Target="/ppt/slides/slide2.xml" Id="R09eb21072b264ef5" /><Relationship Type="http://schemas.openxmlformats.org/officeDocument/2006/relationships/slide" Target="/ppt/slides/slide3.xml" Id="R3353b5e31bad4a79" /><Relationship Type="http://schemas.openxmlformats.org/officeDocument/2006/relationships/slide" Target="/ppt/slides/slide4.xml" Id="Rb8f411775fba41e1" /><Relationship Type="http://schemas.openxmlformats.org/officeDocument/2006/relationships/slide" Target="/ppt/slides/slide5.xml" Id="Re4fc3c7f92fc411c" /><Relationship Type="http://schemas.openxmlformats.org/officeDocument/2006/relationships/slide" Target="/ppt/slides/slide6.xml" Id="Rc8946a4cb9f348b7" /><Relationship Type="http://schemas.openxmlformats.org/officeDocument/2006/relationships/slide" Target="/ppt/slides/slide7.xml" Id="R1abc75af5feb40cd" /><Relationship Type="http://schemas.openxmlformats.org/officeDocument/2006/relationships/slide" Target="/ppt/slides/slide8.xml" Id="R314a02568da4427b" /><Relationship Type="http://schemas.openxmlformats.org/officeDocument/2006/relationships/slide" Target="/ppt/slides/slide9.xml" Id="Rac94f07adde74345" /><Relationship Type="http://schemas.openxmlformats.org/officeDocument/2006/relationships/slide" Target="/ppt/slides/slide10.xml" Id="R86a375cd6d1d4b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a96d278e2dd4a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89ec6955b743bc" /><Relationship Type="http://schemas.openxmlformats.org/officeDocument/2006/relationships/notesMaster" Target="/ppt/notesMasters/notesMaster1.xml" Id="Rf118e195072142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912be3dfec40a1" /><Relationship Type="http://schemas.openxmlformats.org/officeDocument/2006/relationships/notesMaster" Target="/ppt/notesMasters/notesMaster1.xml" Id="Rf8acdb7100364c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cefe4cb41a4589" /><Relationship Type="http://schemas.openxmlformats.org/officeDocument/2006/relationships/notesMaster" Target="/ppt/notesMasters/notesMaster1.xml" Id="R499d13ad918b4b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8f20eb8b244984" /><Relationship Type="http://schemas.openxmlformats.org/officeDocument/2006/relationships/notesMaster" Target="/ppt/notesMasters/notesMaster1.xml" Id="R1eca6172a58748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72dbca13c34f5b" /><Relationship Type="http://schemas.openxmlformats.org/officeDocument/2006/relationships/notesMaster" Target="/ppt/notesMasters/notesMaster1.xml" Id="R6feb00d4f04747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d78dca190b4819" /><Relationship Type="http://schemas.openxmlformats.org/officeDocument/2006/relationships/notesMaster" Target="/ppt/notesMasters/notesMaster1.xml" Id="R7e15cb01f7294e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797d44e5004ca2" /><Relationship Type="http://schemas.openxmlformats.org/officeDocument/2006/relationships/notesMaster" Target="/ppt/notesMasters/notesMaster1.xml" Id="Rf375155408f14d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e6da6e69e24007" /><Relationship Type="http://schemas.openxmlformats.org/officeDocument/2006/relationships/notesMaster" Target="/ppt/notesMasters/notesMaster1.xml" Id="R25e046650eee4cf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03530b19e045fe" /><Relationship Type="http://schemas.openxmlformats.org/officeDocument/2006/relationships/notesMaster" Target="/ppt/notesMasters/notesMaster1.xml" Id="Ra3f353cb8ffa4a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17cfaa9454492c" /><Relationship Type="http://schemas.openxmlformats.org/officeDocument/2006/relationships/notesMaster" Target="/ppt/notesMasters/notesMaster1.xml" Id="Rb22a06c9b91749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7c56c1e3f446f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c0c545fc1234baa" /><Relationship Type="http://schemas.openxmlformats.org/officeDocument/2006/relationships/slideLayout" Target="/ppt/slideLayouts/slideLayout2.xml" Id="Rcb3b060a4e444c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3b060a4e444c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c664c783184b10" /><Relationship Type="http://schemas.openxmlformats.org/officeDocument/2006/relationships/notesSlide" Target="/ppt/notesSlides/notesSlide1.xml" Id="R8577772b8e8f4c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6c715300354c57" /><Relationship Type="http://schemas.openxmlformats.org/officeDocument/2006/relationships/notesSlide" Target="/ppt/notesSlides/notesSlide2.xml" Id="R651ebc456a824f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c188c13b7045ba" /><Relationship Type="http://schemas.openxmlformats.org/officeDocument/2006/relationships/notesSlide" Target="/ppt/notesSlides/notesSlide3.xml" Id="R7a8e9d3f74b042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8116df166e4fbd" /><Relationship Type="http://schemas.openxmlformats.org/officeDocument/2006/relationships/notesSlide" Target="/ppt/notesSlides/notesSlide4.xml" Id="Rbb804bdb7c034f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47937529e744d4" /><Relationship Type="http://schemas.openxmlformats.org/officeDocument/2006/relationships/notesSlide" Target="/ppt/notesSlides/notesSlide5.xml" Id="Ra001a3d919834c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b04afaa0e2442c" /><Relationship Type="http://schemas.openxmlformats.org/officeDocument/2006/relationships/notesSlide" Target="/ppt/notesSlides/notesSlide6.xml" Id="Rea805e562dc64f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480d898ded4373" /><Relationship Type="http://schemas.openxmlformats.org/officeDocument/2006/relationships/notesSlide" Target="/ppt/notesSlides/notesSlide7.xml" Id="R1e135d945d3641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2b36b7d0d045c1" /><Relationship Type="http://schemas.openxmlformats.org/officeDocument/2006/relationships/notesSlide" Target="/ppt/notesSlides/notesSlide8.xml" Id="Rc8ebecebdc7e4d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56d227b1f64b45" /><Relationship Type="http://schemas.openxmlformats.org/officeDocument/2006/relationships/notesSlide" Target="/ppt/notesSlides/notesSlide9.xml" Id="R585b32dd686444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faa1c8efd547a5" /><Relationship Type="http://schemas.openxmlformats.org/officeDocument/2006/relationships/notesSlide" Target="/ppt/notesSlides/notesSlide10.xml" Id="R346674aa01d947a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92E3DC-132D-40CE-8AA1-5C8E684A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1A79B-8C64-496A-B909-B94DD2BB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Improving Turkish Legal Question Answering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0CE96-BAD3-42AF-A0ED-1C1E94EB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7E3F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7E3F4"/>
                </a:solidFill>
                <a:latin typeface="Aptos"/>
                <a:ea typeface="Aptos"/>
                <a:cs typeface="Aptos"/>
              </a:rPr>
              <a:t>with an Optimized RAG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044E0-FF13-4B0B-9464-9F791923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9525">
            <a:solidFill>
              <a:srgbClr val="0B2545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3F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7E3F4"/>
                </a:solidFill>
                <a:latin typeface="Aptos"/>
                <a:ea typeface="Aptos"/>
                <a:cs typeface="Aptos"/>
              </a:rPr>
              <a:t>CENG493 Term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66C81-D2D7-4778-95C3-18839114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4E3BF8-42CE-41F6-9E03-E32882DC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7,579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AB1EA-702B-4E1C-B46A-089DA630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767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legal corpus chunks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38769-C470-4B29-A6DF-AB78B5E6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54C951-5015-4CE1-A975-9B3BE769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3860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1,000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E6D7E-DD42-479F-9681-70DB2B8D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4767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retrieval eval queries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70FD31-A8FC-4AD4-8353-3710DC8E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052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32476-A46B-4660-B433-DE0368C6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3860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240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DD927-0D74-42D9-8F42-3DA637BA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767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gold QA questions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CD849C-5D48-41D3-824E-208B1976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05250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FCC58-2638-4199-8813-D93E745E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0.975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EDEA55-000F-4FAA-94F4-64CD9DFB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76750"/>
            <a:ext cx="1828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BM25 Recall@10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F91DC8-A984-4572-8938-5AB01D91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1</a:t>
            </a:r>
          </a:p>
        </p:txBody>
      </p:sp>
    </p:spTree>
    <p:extLst>
      <p:ext uri="{BB962C8B-B14F-4D97-AF65-F5344CB8AC3E}">
        <p14:creationId xmlns:p14="http://schemas.microsoft.com/office/powerpoint/2010/main" val="11831626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26A999-417E-4883-BE53-A2B05064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816E6-DBCB-42B3-ACAF-BAE1A5CA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Legal QA must be evaluated for grounding, not only fluent answers.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B8697-AF0D-4BDA-8F36-5D4460AB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C7E40-40E3-42B2-B6BD-6AB87B99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10F6B-6E07-4CE7-822C-E010D05A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3619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293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2939"/>
                </a:solidFill>
                <a:latin typeface="Aptos"/>
                <a:ea typeface="Aptos"/>
                <a:cs typeface="Aptos"/>
              </a:rPr>
              <a:t>A Turkish legal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C78AB-3F17-4910-8A19-5161F00E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2000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799CF0-FD27-4C47-9887-FBDB2FFB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24125"/>
            <a:ext cx="3619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293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2939"/>
                </a:solidFill>
                <a:latin typeface="Aptos"/>
                <a:ea typeface="Aptos"/>
                <a:cs typeface="Aptos"/>
              </a:rPr>
              <a:t>A source-supported answer with citation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30063-4BD5-41B1-B5CF-CE611212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0510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5DBFC-91B5-4A6E-BED4-51D5EF72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91000"/>
            <a:ext cx="819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0C36A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Risk: fluent legal hallucinations can look credible without being grounded in any source.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EB0D8-11A6-4EEF-834F-183EF539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2</a:t>
            </a:r>
          </a:p>
        </p:txBody>
      </p:sp>
    </p:spTree>
    <p:extLst>
      <p:ext uri="{BB962C8B-B14F-4D97-AF65-F5344CB8AC3E}">
        <p14:creationId xmlns:p14="http://schemas.microsoft.com/office/powerpoint/2010/main" val="2908629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9207D9-CB65-4B13-A0D4-70E193C3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C62CA-3CAF-4AC4-BAB7-AE0E722C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provided data supports full Scenario 1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3DFCA-DA13-4EB6-AC9A-603BFEE8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DC04C-4634-4A50-9467-6FFE51A5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72037-C9F4-41F3-93EF-3591A5C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corpus.jsonl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FDC269-DA10-42A8-84ED-42FD8FB2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7,579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1AB45-A23F-41EB-B8FF-9F2CA98C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1460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retrieval corpus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0EFCA-0B9F-41AA-805E-BFAAAAA9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86666-4B8E-4C7D-8C25-D5B058E8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5265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rag_eval.json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15E48-87C9-4CBF-B72C-0C8BD74D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384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1,000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0432F-5CB2-47DD-9F2A-D27E72C2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1460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gold chunk retrieval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349D3-2D2D-43BB-8003-310CC158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8446D-1494-4206-ABDC-C38F2492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5265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gold_benchmark.json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0010F-F0A4-49D0-828C-84965FF9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384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240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A06D5A-E611-4436-B174-5A8AFA51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1460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verified QA + sources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1EE97E-7D5C-4954-9D1F-EB86A87C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E9F3F-3440-4760-8D96-6BDAB147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7190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embedding.jsonl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5296A-0CC6-44EB-9BC8-644F53DC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2,059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26D07-53C5-46DA-97FF-F0489F51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338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triplet tuning 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C645A3-BB41-4514-8774-78FB3D19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1950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5971F3-57D5-4EF2-A162-809C8664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7190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reranker.jsonl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A8F82C-2B83-48DE-BAFA-2A41B245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6,752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76AF0A-B854-4E96-BEE3-1AF53514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338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cross-encoder pairs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0B7BE7-084E-438D-ABCC-38C284D9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19500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F77BD4-6D38-445D-97E6-42CE4D1F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7190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llm.jsonl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422175-20E5-4407-8CBB-64BFED56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5765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13,758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C1F981-D8AA-4563-B3F0-BCD742B1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338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SFT examples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7AF4A0-C5A6-4C22-BF13-0117F2F9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3</a:t>
            </a:r>
          </a:p>
        </p:txBody>
      </p:sp>
    </p:spTree>
    <p:extLst>
      <p:ext uri="{BB962C8B-B14F-4D97-AF65-F5344CB8AC3E}">
        <p14:creationId xmlns:p14="http://schemas.microsoft.com/office/powerpoint/2010/main" val="15902016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05D72A-998F-4681-9A6E-B342EFEF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9AB145-654C-4B3D-9AB4-96E48906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pipeline separates retrieval, ranking, and grounded answer generation.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FA85-2F44-4263-8F43-66A8E29D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AFB72-55B0-45A9-AA97-632899C3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A8450-ADB2-4026-9071-28D4EDAD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BB0ED4-D11E-4153-9F3D-556A6B1C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146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0FC6A-B390-4092-B694-3565CE69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6225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B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E5FB9-C4DB-4D52-A219-852EEDEC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971800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1FB"/>
          </a:solidFill>
          <a:ln xmlns:a="http://schemas.openxmlformats.org/drawingml/2006/main" w="9525">
            <a:solidFill>
              <a:srgbClr val="E8F1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9AF180-649A-47F0-B523-35FD1190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146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30962-5F61-48FA-946D-971004BE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6225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AD05C-4409-44D7-8356-9BB97FBA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Top-k chunks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0EA6F-4EBE-4716-A426-C3DB7C55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146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AEB67-3702-4929-BE47-EAB04C6A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6225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80926-D96A-4181-86B9-B1EC861A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971800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Answer generator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AF0091-386C-491F-A373-06012C7C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1146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6D2289-1655-4D92-9A11-82F222C3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6225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1DEA65-75EF-421A-A487-95BCB408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71800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Cited answer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DF7142-6E6D-438F-8103-A1A19F46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7675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D293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D2939"/>
                </a:solidFill>
                <a:latin typeface="Aptos"/>
                <a:ea typeface="Aptos"/>
                <a:cs typeface="Aptos"/>
              </a:rPr>
              <a:t>Implemented: BM25, dense MiniLM, hybrid retrieval, embedding fine-tuning, reranker fine-tuning, LLM/SFT smoke training, QA metrics, and judge-based faithfulness.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FE50C8-1DAE-4561-A8DA-1E687B96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4</a:t>
            </a:r>
          </a:p>
        </p:txBody>
      </p:sp>
    </p:spTree>
    <p:extLst>
      <p:ext uri="{BB962C8B-B14F-4D97-AF65-F5344CB8AC3E}">
        <p14:creationId xmlns:p14="http://schemas.microsoft.com/office/powerpoint/2010/main" val="12868981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2067BF-5630-4D15-AE84-FF22E813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103AF-219A-4422-B45F-E92959BA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BM25 is the strongest baseline on Turkish legal 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40F7B-5779-4871-B60A-A438D0AB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A1EF7-24E0-4C18-8F2E-0B794FD5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14575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293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D2939"/>
                </a:solidFill>
                <a:latin typeface="Aptos"/>
                <a:ea typeface="Aptos"/>
                <a:cs typeface="Aptos"/>
              </a:rPr>
              <a:t>BM25 Recall@10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EEE7E-CD50-4FB4-B5DF-2FE1EA65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E9EEF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935EA6-A906-4762-938C-D68748EF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48291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F231D4-ECB0-4659-B132-B5A1AA93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050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0.975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1B42D-DA2D-4D03-B91F-161D9881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86075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293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D2939"/>
                </a:solidFill>
                <a:latin typeface="Aptos"/>
                <a:ea typeface="Aptos"/>
                <a:cs typeface="Aptos"/>
              </a:rPr>
              <a:t>Dense Recall@10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AA8B3-0797-4FBE-985F-8DD50665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05125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E9EEF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32511-3D94-4A1A-A055-B921DAB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05125"/>
            <a:ext cx="334822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18535-10F0-4725-9A93-FFC1E0AE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0.676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F9D9E7-10BE-4530-8C16-AE18C635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57575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293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D2939"/>
                </a:solidFill>
                <a:latin typeface="Aptos"/>
                <a:ea typeface="Aptos"/>
                <a:cs typeface="Aptos"/>
              </a:rPr>
              <a:t>Hybrid Recall@10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1EBA31-6303-41B7-915F-D6882C45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76625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E9EE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65CCC-8BAB-4048-9D5A-0E09694E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76625"/>
            <a:ext cx="4799457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C12BD-AA61-48DD-A64D-5487397F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48050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0.969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C875C-AB57-417F-B83A-2A38ECEE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95C58-1337-43FE-9991-75F3365B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24100"/>
            <a:ext cx="211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0.863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51A43-3056-4B59-A03E-0C0B2874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7622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BM25 MRR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7ABC3-1CCF-43F0-A207-C9D054E5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242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9DB42-0184-40D9-87B7-BD346164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57600"/>
            <a:ext cx="211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0.890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39658D-F5DC-4444-8901-0804AA13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957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BM25 nDCG@10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E57277-8AF7-4521-BEF1-56EE1293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86375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Interpretation: exact legal terms, article numbers and court references make lexical retrieval very competitive.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2FF88C-A1BE-4A91-8AD2-BFBCAD6D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5</a:t>
            </a:r>
          </a:p>
        </p:txBody>
      </p:sp>
    </p:spTree>
    <p:extLst>
      <p:ext uri="{BB962C8B-B14F-4D97-AF65-F5344CB8AC3E}">
        <p14:creationId xmlns:p14="http://schemas.microsoft.com/office/powerpoint/2010/main" val="1646589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E800F-D674-4D57-819C-CE84D7ED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RERANKER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79A8D7-620A-445E-A8F3-7386A93B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Legal-domain fine-tuning fixes much of the pretrained mismatch.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FE512-EC10-45D9-9690-E9DD09AF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7F100-1838-43CB-A12C-1F705702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2286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E4B29-54C8-4A09-B9CE-98ED2795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76475"/>
            <a:ext cx="2019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0.810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2A3427-60C2-409A-9EBF-C0010A5D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14625"/>
            <a:ext cx="2019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Pretrained Recall@10, 100q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DBAD3-DAD7-4C85-BE73-F8B18559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43125"/>
            <a:ext cx="2286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547ED-FBF4-4B10-8475-E64749FF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276475"/>
            <a:ext cx="2019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0.970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ABD75-72FA-489D-9C9A-1DE5719E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019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Fine-tuned Recall@10, 100q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63E0D-F7AF-4DA1-9D3B-EE7142AE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43125"/>
            <a:ext cx="2286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76F68C-B81A-474B-9D4F-8D0DD2F8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76475"/>
            <a:ext cx="2019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0.915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9730C-06ED-40E9-BD77-FFB48448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14625"/>
            <a:ext cx="2019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Fine-tuned Recall@10, 1000q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E3477-7F9D-42F2-9C93-A81F6509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43125"/>
            <a:ext cx="2286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913203-71E5-4B0E-A9FD-0B692755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276475"/>
            <a:ext cx="2019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0.975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5F23B1-34A1-4739-A392-AA9B2B08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14625"/>
            <a:ext cx="2019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BM25 Recall@10, 1000q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98A023-2E16-449D-970A-0BE9910A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A6D8B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Conclusion: reranker fine-tuning works, but raw BM25 remains strongest on the full benchmark, so the live demo keeps BM25 ranking.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9B29C9-4A08-438B-97A7-457A1941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6</a:t>
            </a:r>
          </a:p>
        </p:txBody>
      </p:sp>
    </p:spTree>
    <p:extLst>
      <p:ext uri="{BB962C8B-B14F-4D97-AF65-F5344CB8AC3E}">
        <p14:creationId xmlns:p14="http://schemas.microsoft.com/office/powerpoint/2010/main" val="11798937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96690E-6E69-4FCB-ACF7-59764301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EMBEDDING TUNING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E96E6-08B1-4603-BC62-51461AC5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Dense fine-tuning must be validated, not assumed to help.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CE8A8-8CFA-4A91-9D33-53275BD3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CA282-AC41-40D5-A24C-8E9EEB87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3837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EF35A-3512-42C6-AD0D-6237F7F5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71725"/>
            <a:ext cx="211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0.676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B1EF3-19E0-461B-9A04-03231AB9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09875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Base dense Recall@10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28EFF-1B2B-4BCC-949D-166A6A64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3837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A87A41-06F2-4806-9DD3-D8675B1F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71725"/>
            <a:ext cx="211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0.591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1F18D-A07B-496D-A301-CFDE86B9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809875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CPU triplet tuned Recall@10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39E0EF-C7FB-471B-8B6E-00D4F920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B03331-3DDD-43EF-ACCB-B4EA4DFC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71725"/>
            <a:ext cx="2114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41 min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F3BC2-4650-4ED3-9078-1A2582D2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09875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CPU training runtime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2302F7-1806-4098-851E-5D24E40D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33875"/>
            <a:ext cx="857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0"/>
          </a:solidFill>
          <a:ln xmlns:a="http://schemas.openxmlformats.org/drawingml/2006/main" w="9525">
            <a:solidFill>
              <a:srgbClr val="FDA29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Result: the naive triplet setup degraded dense retrieval. This is a useful ablation and justifies keeping BM25 in the final demo.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D484BF-9CCD-44C4-A15C-96B751E5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7</a:t>
            </a:r>
          </a:p>
        </p:txBody>
      </p:sp>
    </p:spTree>
    <p:extLst>
      <p:ext uri="{BB962C8B-B14F-4D97-AF65-F5344CB8AC3E}">
        <p14:creationId xmlns:p14="http://schemas.microsoft.com/office/powerpoint/2010/main" val="178023798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DC3D8C-5BAF-4D7B-887D-810545F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QA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2AA8A-8C38-4596-97F3-6D74269B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Grounded extractive answers are faithful but bounded by source ranking.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65A527-3651-4A30-8013-E80EF5E9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207BC-24C7-446B-99F0-29219F14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9BCC1-4AF4-4964-8FC3-D1F17B85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0.799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FC45E-3565-44D9-8CFB-3905CD26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Token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7BC7B-C41F-40EC-BE52-B6A20C33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992E7-EBBA-4384-B8B5-C11FBB0D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2410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0.908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A5515-D2EE-4EF6-8DDD-FF8B4CF7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622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Top-5 source hit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B4098-03EE-41BB-A2FD-F2FBDD52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560EFC-42C0-4342-8EBE-A3AC4CA6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2410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0.813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55622-3234-4F66-B579-30E04FA0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7622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Citation accuracy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249DDF-176E-4989-A0DD-EA95384E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90750"/>
            <a:ext cx="200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99A8EA-1BFF-4AE0-A033-BBF1092C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2410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B7F5A"/>
                </a:solidFill>
                <a:latin typeface="Aptos"/>
                <a:ea typeface="Aptos"/>
                <a:cs typeface="Aptos"/>
              </a:rPr>
              <a:t>0.961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A9850-D48B-4963-A1CD-7D2F8142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Faithfulness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448BF-37AD-4C0C-9115-022BC95C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33875"/>
            <a:ext cx="8191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Judge-based faithfulness adds a stricter semantic check: 206 of 240 answers were source-supported, score 0.858.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98A5E-EC59-48E6-B39B-3E501275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8</a:t>
            </a:r>
          </a:p>
        </p:txBody>
      </p:sp>
    </p:spTree>
    <p:extLst>
      <p:ext uri="{BB962C8B-B14F-4D97-AF65-F5344CB8AC3E}">
        <p14:creationId xmlns:p14="http://schemas.microsoft.com/office/powerpoint/2010/main" val="1629619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8C47A5-E9C5-490D-8012-75FAB936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ERROR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FDC9F-41A6-45B9-8D8B-D0FCCB4C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Failures split cleanly into retrieval and ranking problems.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6B0DE-7B9F-4A93-BE1E-E69E421D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4ACBA-8B0A-4D92-A0E5-6BBF432D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90750"/>
            <a:ext cx="2667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3AF0F-A675-4459-AA25-640A1693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24100"/>
            <a:ext cx="2400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9F2543-491E-4364-B4FF-548CBA3C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622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gold source missing from top-5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9160B-15F2-4C5C-AEBC-E9035ED8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2667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B7644-562F-4643-86FB-2675BFC7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24100"/>
            <a:ext cx="2400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B38EA0-F3F4-4488-8A1C-057775DC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622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gold source in top-5 but not top-1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B09513-63B2-45DE-AC50-12A1726C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33875"/>
            <a:ext cx="8858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Optimization map: first-stage retrieval should address the 22 misses; a domain-tuned reranker should address the 23 ranking failures.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F854A1-83A8-427D-A45D-D2F65EAD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9</a:t>
            </a:r>
          </a:p>
        </p:txBody>
      </p:sp>
    </p:spTree>
    <p:extLst>
      <p:ext uri="{BB962C8B-B14F-4D97-AF65-F5344CB8AC3E}">
        <p14:creationId xmlns:p14="http://schemas.microsoft.com/office/powerpoint/2010/main" val="51915749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27D813-3C28-4282-BB96-19E8B4D7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74B5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2D0D3C-35B2-4489-81DB-1E11208A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The project is reproducible, measured, and demo-ready.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3BAE0-F726-4823-930F-F65C077C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9525">
            <a:solidFill>
              <a:srgbClr val="2E74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DCD89-68CB-440F-A1A3-13401737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47875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90920-EF5A-40D4-8301-9E118849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5265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9525">
            <a:solidFill>
              <a:srgbClr val="EAF7F1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2545"/>
                </a:solidFill>
                <a:latin typeface="Aptos"/>
                <a:ea typeface="Aptos"/>
                <a:cs typeface="Aptos"/>
              </a:rPr>
              <a:t>BM25 is the current strongest baseline.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FF9A0-1113-49DC-B0E1-F564A6BC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BE335-16FB-4C8E-87E5-73484298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62275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Embedding and reranker fine-tuning were run and evaluated on CPU.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5F07A-1633-45F0-9138-83F5ED9B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E10B2E-AF64-4B35-B707-41FFBDF2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71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LLM/SFT smoke training works but is not reliable enough for live demo.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560C3-7399-434B-9775-03E07B1E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8763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6DE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268D0-3A00-46B4-BF01-B2330E01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81525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F4F7FB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254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2545"/>
                </a:solidFill>
                <a:latin typeface="Aptos"/>
                <a:ea typeface="Aptos"/>
                <a:cs typeface="Aptos"/>
              </a:rPr>
              <a:t>Judge faithfulness and error analysis make grounding auditable.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35222-92FB-482E-8387-7A69CCCE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293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95250" tIns="57150" rIns="95250" bIns="571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Turkish Legal RAG | CENG493 | 10</a:t>
            </a:r>
          </a:p>
        </p:txBody>
      </p:sp>
    </p:spTree>
    <p:extLst>
      <p:ext uri="{BB962C8B-B14F-4D97-AF65-F5344CB8AC3E}">
        <p14:creationId xmlns:p14="http://schemas.microsoft.com/office/powerpoint/2010/main" val="10655893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2026-05-22T16:08:00.3090000Z</dcterms:created>
  <dcterms:modified xsi:type="dcterms:W3CDTF">2026-05-22T16:08:00.3090000Z</dcterms:modified>
</coreProperties>
</file>