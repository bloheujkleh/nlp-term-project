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95d007010d4921" /><Relationship Type="http://schemas.openxmlformats.org/officeDocument/2006/relationships/extended-properties" Target="/docProps/app.xml" Id="R16674210e96b4947" /><Relationship Type="http://schemas.openxmlformats.org/officeDocument/2006/relationships/officeDocument" Target="/ppt/presentation.xml" Id="R859bab7f7cdf48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c8c8d2c13c45e6"/>
  </p:sldMasterIdLst>
  <p:notesMasterIdLst>
    <p:notesMasterId xmlns:r="http://schemas.openxmlformats.org/officeDocument/2006/relationships" r:id="Re1d5bbcb4f844d82"/>
  </p:notesMasterIdLst>
  <p:sldIdLst>
    <p:sldId xmlns:r="http://schemas.openxmlformats.org/officeDocument/2006/relationships" id="256" r:id="Rfb36fa9e39954325"/>
    <p:sldId xmlns:r="http://schemas.openxmlformats.org/officeDocument/2006/relationships" id="257" r:id="R275cf84d006c4ec9"/>
    <p:sldId xmlns:r="http://schemas.openxmlformats.org/officeDocument/2006/relationships" id="258" r:id="R6b3900f986b2408e"/>
    <p:sldId xmlns:r="http://schemas.openxmlformats.org/officeDocument/2006/relationships" id="259" r:id="R13f9f5c8abbc4b65"/>
    <p:sldId xmlns:r="http://schemas.openxmlformats.org/officeDocument/2006/relationships" id="260" r:id="R3776e1896519495c"/>
    <p:sldId xmlns:r="http://schemas.openxmlformats.org/officeDocument/2006/relationships" id="261" r:id="R902a7a2254a24a0b"/>
    <p:sldId xmlns:r="http://schemas.openxmlformats.org/officeDocument/2006/relationships" id="262" r:id="R43774bd39b90445f"/>
    <p:sldId xmlns:r="http://schemas.openxmlformats.org/officeDocument/2006/relationships" id="263" r:id="R5a3751e2e34c429f"/>
    <p:sldId xmlns:r="http://schemas.openxmlformats.org/officeDocument/2006/relationships" id="264" r:id="Rd7b9e93dfb19422b"/>
    <p:sldId xmlns:r="http://schemas.openxmlformats.org/officeDocument/2006/relationships" id="265" r:id="Rd6cf61af50aa43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8c8d2c13c45e6" /><Relationship Type="http://schemas.openxmlformats.org/officeDocument/2006/relationships/theme" Target="/ppt/theme/theme1.xml" Id="R65a4a3f08f81452e" /><Relationship Type="http://schemas.openxmlformats.org/officeDocument/2006/relationships/notesMaster" Target="/ppt/notesMasters/notesMaster1.xml" Id="Re1d5bbcb4f844d82" /><Relationship Type="http://schemas.openxmlformats.org/officeDocument/2006/relationships/presProps" Target="/ppt/presProps.xml" Id="R6ab9804d560b4f27" /><Relationship Type="http://schemas.openxmlformats.org/officeDocument/2006/relationships/viewProps" Target="/ppt/viewProps.xml" Id="Ra3d9ca941e0b445c" /><Relationship Type="http://schemas.openxmlformats.org/officeDocument/2006/relationships/tableStyles" Target="/ppt/tableStyles.xml" Id="R6859865774694945" /><Relationship Type="http://schemas.openxmlformats.org/officeDocument/2006/relationships/slide" Target="/ppt/slides/slide1.xml" Id="Rfb36fa9e39954325" /><Relationship Type="http://schemas.openxmlformats.org/officeDocument/2006/relationships/slide" Target="/ppt/slides/slide2.xml" Id="R275cf84d006c4ec9" /><Relationship Type="http://schemas.openxmlformats.org/officeDocument/2006/relationships/slide" Target="/ppt/slides/slide3.xml" Id="R6b3900f986b2408e" /><Relationship Type="http://schemas.openxmlformats.org/officeDocument/2006/relationships/slide" Target="/ppt/slides/slide4.xml" Id="R13f9f5c8abbc4b65" /><Relationship Type="http://schemas.openxmlformats.org/officeDocument/2006/relationships/slide" Target="/ppt/slides/slide5.xml" Id="R3776e1896519495c" /><Relationship Type="http://schemas.openxmlformats.org/officeDocument/2006/relationships/slide" Target="/ppt/slides/slide6.xml" Id="R902a7a2254a24a0b" /><Relationship Type="http://schemas.openxmlformats.org/officeDocument/2006/relationships/slide" Target="/ppt/slides/slide7.xml" Id="R43774bd39b90445f" /><Relationship Type="http://schemas.openxmlformats.org/officeDocument/2006/relationships/slide" Target="/ppt/slides/slide8.xml" Id="R5a3751e2e34c429f" /><Relationship Type="http://schemas.openxmlformats.org/officeDocument/2006/relationships/slide" Target="/ppt/slides/slide9.xml" Id="Rd7b9e93dfb19422b" /><Relationship Type="http://schemas.openxmlformats.org/officeDocument/2006/relationships/slide" Target="/ppt/slides/slide10.xml" Id="Rd6cf61af50aa43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031f47ee1c45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f6b7bcda4b4edf" /><Relationship Type="http://schemas.openxmlformats.org/officeDocument/2006/relationships/notesMaster" Target="/ppt/notesMasters/notesMaster1.xml" Id="R2e323657e28e4a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a87d69574c497d" /><Relationship Type="http://schemas.openxmlformats.org/officeDocument/2006/relationships/notesMaster" Target="/ppt/notesMasters/notesMaster1.xml" Id="R8dddb8b4917945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c4bf464c424d9a" /><Relationship Type="http://schemas.openxmlformats.org/officeDocument/2006/relationships/notesMaster" Target="/ppt/notesMasters/notesMaster1.xml" Id="Rfca4db00ba9140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8339f3de1e4a2e" /><Relationship Type="http://schemas.openxmlformats.org/officeDocument/2006/relationships/notesMaster" Target="/ppt/notesMasters/notesMaster1.xml" Id="R64a58555425140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fa112dc2314cdc" /><Relationship Type="http://schemas.openxmlformats.org/officeDocument/2006/relationships/notesMaster" Target="/ppt/notesMasters/notesMaster1.xml" Id="R4d9bd55f4eab44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e3ae0e861c4f1a" /><Relationship Type="http://schemas.openxmlformats.org/officeDocument/2006/relationships/notesMaster" Target="/ppt/notesMasters/notesMaster1.xml" Id="Rf5b473eaecdf46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e5f7faec5f4565" /><Relationship Type="http://schemas.openxmlformats.org/officeDocument/2006/relationships/notesMaster" Target="/ppt/notesMasters/notesMaster1.xml" Id="R207a8ec7e17744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950786eb514f87" /><Relationship Type="http://schemas.openxmlformats.org/officeDocument/2006/relationships/notesMaster" Target="/ppt/notesMasters/notesMaster1.xml" Id="R59a454e3f34445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4bd3a971554554" /><Relationship Type="http://schemas.openxmlformats.org/officeDocument/2006/relationships/notesMaster" Target="/ppt/notesMasters/notesMaster1.xml" Id="R63b0fcb6dec24d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d8b30ceacb4eec" /><Relationship Type="http://schemas.openxmlformats.org/officeDocument/2006/relationships/notesMaster" Target="/ppt/notesMasters/notesMaster1.xml" Id="Raf4959e776e946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2bfd5af02a4d9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d2b8b4892ae4a9d" /><Relationship Type="http://schemas.openxmlformats.org/officeDocument/2006/relationships/slideLayout" Target="/ppt/slideLayouts/slideLayout2.xml" Id="R798a08f837ef4a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8a08f837ef4a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fa654583a3405f" /><Relationship Type="http://schemas.openxmlformats.org/officeDocument/2006/relationships/notesSlide" Target="/ppt/notesSlides/notesSlide1.xml" Id="Re13c5f16ffea4e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f77be7e7e84a48" /><Relationship Type="http://schemas.openxmlformats.org/officeDocument/2006/relationships/notesSlide" Target="/ppt/notesSlides/notesSlide2.xml" Id="R42052ab2a2c24f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57f79427ab49dd" /><Relationship Type="http://schemas.openxmlformats.org/officeDocument/2006/relationships/notesSlide" Target="/ppt/notesSlides/notesSlide3.xml" Id="Rba10ff097ccf43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eb288b44d840f7" /><Relationship Type="http://schemas.openxmlformats.org/officeDocument/2006/relationships/notesSlide" Target="/ppt/notesSlides/notesSlide4.xml" Id="R1917260134ca42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5cbe83eb224974" /><Relationship Type="http://schemas.openxmlformats.org/officeDocument/2006/relationships/notesSlide" Target="/ppt/notesSlides/notesSlide5.xml" Id="R011605492c9946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ca6ee5dff6410a" /><Relationship Type="http://schemas.openxmlformats.org/officeDocument/2006/relationships/notesSlide" Target="/ppt/notesSlides/notesSlide6.xml" Id="R6e491da9b0bc48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509134337941b7" /><Relationship Type="http://schemas.openxmlformats.org/officeDocument/2006/relationships/notesSlide" Target="/ppt/notesSlides/notesSlide7.xml" Id="Rcc1fb07d5b6047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3341cb1c57411e" /><Relationship Type="http://schemas.openxmlformats.org/officeDocument/2006/relationships/notesSlide" Target="/ppt/notesSlides/notesSlide8.xml" Id="R1b0fff76508d43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5c84aa7ae34941" /><Relationship Type="http://schemas.openxmlformats.org/officeDocument/2006/relationships/notesSlide" Target="/ppt/notesSlides/notesSlide9.xml" Id="R73b072a1972f43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7b58b09f6842a8" /><Relationship Type="http://schemas.openxmlformats.org/officeDocument/2006/relationships/notesSlide" Target="/ppt/notesSlides/notesSlide10.xml" Id="R6767445533cd44c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C1C883-F943-4D52-9051-6B2D80AA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3263C-7402-4F4C-A941-74450323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Improving Turkish Legal Question Answering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44011-087E-4DA2-8212-9998BF59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09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7E3F4"/>
                </a:solidFill>
                <a:latin typeface="Aptos"/>
                <a:ea typeface="Aptos"/>
                <a:cs typeface="Aptos"/>
              </a:rPr>
              <a:t>with an Optimized RAG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7A3AD-147E-40B0-810C-D06D3043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CENG493 Term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DFE6F-0D7E-42AB-9F6F-79716C3B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8F09F-244E-42E8-B92E-226F993A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7,579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D61DB-EC52-4CD5-9323-32C53286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legal corpus chunks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CAF08-9561-4C37-8C4E-F8632E46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052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D2321-29A4-4106-89F9-7033FE45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3860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1,000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B4FF2-4299-4D47-886A-692C7A63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retrieval eval queries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08554-0F0B-4698-BE88-15687398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052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2530D-0522-489B-A82E-CC411E6F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3860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240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3FFC8-7982-4FA1-8A3D-02B96061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767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gold QA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42C79-E1DC-409E-9AF2-D28F8798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052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5384A-F0BE-460D-AC8B-27249E80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860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7F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B7F5A"/>
                </a:solidFill>
                <a:latin typeface="Aptos"/>
                <a:ea typeface="Aptos"/>
                <a:cs typeface="Aptos"/>
              </a:rPr>
              <a:t>0.975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D4AE7-AF92-448E-9580-07A850C7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BM25 Recall@10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917D6-BB40-4132-B01C-18B248BD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Turkish Legal RAG | CENG493 | 1</a:t>
            </a:r>
          </a:p>
        </p:txBody>
      </p:sp>
    </p:spTree>
    <p:extLst>
      <p:ext uri="{BB962C8B-B14F-4D97-AF65-F5344CB8AC3E}">
        <p14:creationId xmlns:p14="http://schemas.microsoft.com/office/powerpoint/2010/main" val="9319330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FEFBB2-9780-4361-8ED3-4FF60F43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AC1C0-8736-4646-9960-E862C112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Legal QA must be evaluated for grounding, not only fluent answers.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A6D74-862B-42AC-812C-C27BFF70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90266-801D-40F5-B894-719046DD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9321B-3224-4F4A-BC9F-C96DC6C7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93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939"/>
                </a:solidFill>
                <a:latin typeface="Aptos"/>
                <a:ea typeface="Aptos"/>
                <a:cs typeface="Aptos"/>
              </a:rPr>
              <a:t>A Turkish legal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A609D-6237-4254-BB41-8BC34D49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79CA4-C3C3-49D7-918E-4C38F86B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93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939"/>
                </a:solidFill>
                <a:latin typeface="Aptos"/>
                <a:ea typeface="Aptos"/>
                <a:cs typeface="Aptos"/>
              </a:rPr>
              <a:t>A source-supported answer with citation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BED8B-21BD-418B-A2C0-9A0479AE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051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BFFDF-B718-4C5D-8DCF-CD8AAF1A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8191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0C36A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Risk: fluent legal hallucinations can look credible without being grounded in any source.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0E689-1B75-468B-AEBC-11775E5D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Turkish Legal RAG | CENG493 | 2</a:t>
            </a:r>
          </a:p>
        </p:txBody>
      </p:sp>
    </p:spTree>
    <p:extLst>
      <p:ext uri="{BB962C8B-B14F-4D97-AF65-F5344CB8AC3E}">
        <p14:creationId xmlns:p14="http://schemas.microsoft.com/office/powerpoint/2010/main" val="2248655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347DA-66CD-4B09-AB09-7968FC3D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EB5BF-1EFB-4F3E-AAF3-67416FCD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The provided data supports full Scenario 1 evaluation.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523D0-55C8-4F0E-A28E-B6A2D880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398D2-69A5-4A90-B1F5-8891B8EA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2D571-5C08-42E3-BD8D-280214F2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corpus.jsonl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537AC-A2CD-47C4-906D-ABA515F5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7,579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7B4FA-9184-4D8C-BA71-64637AA5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146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retrieval corpus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4B0EF-538D-448E-895E-C611670F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AA10D-26A4-4020-8764-7A97C5D6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526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rag_eval.json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7CBAF-0AFE-4F97-88B3-FEE34D0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384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1,000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31352-4B19-49AC-B268-88C21007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146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gold chunk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55CF9-FEFA-4434-84EA-D4F5EFD4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F42FB-92CB-4B90-8378-3818A4A0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gold_benchmark.json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C4B50-D799-4ABD-9ADC-67467642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384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240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5E2F0-D343-4C92-B38A-E89CC9D5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146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verified QA + sources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08F90-7FF3-4F02-8557-F6935A16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CE018-E753-4CAB-BA83-EF2A132C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embedding.jsonl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ABFFC-1F12-45AC-B267-49FC5F1F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2,059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43A40-3597-44B5-9667-7E589220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3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triplet tuning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772E6-3FD4-4DC0-9FF2-91BD1B9A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D59C1-E239-4CDD-AC41-E5551E93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719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reranker.jsonl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D1007-9076-4595-A93C-829AEA86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6,752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9AA1F4-3B6C-4DDB-948D-9560BD60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cross-encoder pairs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9570A-003C-49E6-8940-7559D0BE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516BFB-ABA7-41C3-A654-C5AFE6F7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719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llm.jsonl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0CF08-17B5-47BE-8AAD-5F6F99BE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576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13,758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00DBEB-8DB5-441E-839B-E9B6D2AD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3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SFT examples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3B20CC-C0ED-4F37-B879-F4971286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Turkish Legal RAG | CENG493 | 3</a:t>
            </a:r>
          </a:p>
        </p:txBody>
      </p:sp>
    </p:spTree>
    <p:extLst>
      <p:ext uri="{BB962C8B-B14F-4D97-AF65-F5344CB8AC3E}">
        <p14:creationId xmlns:p14="http://schemas.microsoft.com/office/powerpoint/2010/main" val="19526253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071DB0-46AE-4803-9855-0BA71F4B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F169D-F743-4923-A164-AA3CD2CA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The pipeline separates retrieval, ranking, and grounded answer generation.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CAC1C-D92B-446A-9240-9A0F5A3A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8D7DF-C5FD-4EAE-B0CC-BAA4BB32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08FE1-14DC-43CC-9C61-88608706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98844-C255-47AE-9F56-DB47B60C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146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45BBE-1E40-4242-9D59-4337132F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6225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D79D7-AE91-4381-A618-8CC0FDB8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718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E8F1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6D8D4-A184-4C4A-AB55-2448BDC5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146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E0303-EB2F-4F2A-AD3E-3807002F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6225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E7313-BDC3-4E3D-9FD3-98108CA6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Top-k chunks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B227C-CD54-4040-8825-2A570C60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146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E8396-E425-46E5-B7EE-D4EDBCCB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6225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ED8FC-4CA1-4FBD-945A-FCBD06A1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9718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Answer generator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028C2-54EC-493C-9A82-CED60935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146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0D159-50D7-41B9-BCA5-01144130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9084E-2C90-4D17-8B6B-16002326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718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Cited answer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A04EF-71B8-473C-819C-064A393E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D293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2939"/>
                </a:solidFill>
                <a:latin typeface="Aptos"/>
                <a:ea typeface="Aptos"/>
                <a:cs typeface="Aptos"/>
              </a:rPr>
              <a:t>Implemented: BM25, dense MiniLM, hybrid retrieval, pretrained reranker evaluation, embedding/reranker training scripts, QA metrics.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06939-FF95-417B-A5EF-DAF044E6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Turkish Legal RAG | CENG493 | 4</a:t>
            </a:r>
          </a:p>
        </p:txBody>
      </p:sp>
    </p:spTree>
    <p:extLst>
      <p:ext uri="{BB962C8B-B14F-4D97-AF65-F5344CB8AC3E}">
        <p14:creationId xmlns:p14="http://schemas.microsoft.com/office/powerpoint/2010/main" val="14945779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092ED0-D058-4E73-8746-241F164A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210D8-FBA5-4F43-B934-1A3D4641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BM25 is the strongest baseline on Turkish legal 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45DA3-CF3A-4863-8ED1-85595089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BB8BD-10B2-4C20-8B1F-65C65900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145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9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939"/>
                </a:solidFill>
                <a:latin typeface="Aptos"/>
                <a:ea typeface="Aptos"/>
                <a:cs typeface="Aptos"/>
              </a:rPr>
              <a:t>BM25 Recall@10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E4921-E24E-477B-B8B5-F2FB994E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9525">
            <a:solidFill>
              <a:srgbClr val="E9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2457D-81FF-472E-B683-0763F147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4829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9525">
            <a:solidFill>
              <a:srgbClr val="1B7F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D77AB-7B97-42B7-A2C6-7A6F7F3D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7F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B7F5A"/>
                </a:solidFill>
                <a:latin typeface="Aptos"/>
                <a:ea typeface="Aptos"/>
                <a:cs typeface="Aptos"/>
              </a:rPr>
              <a:t>0.975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85025-CC42-4ECD-A468-11D3AF20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9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939"/>
                </a:solidFill>
                <a:latin typeface="Aptos"/>
                <a:ea typeface="Aptos"/>
                <a:cs typeface="Aptos"/>
              </a:rPr>
              <a:t>Dense Recall@10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E5D66-DB9F-4F93-B507-7C7A6397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9525">
            <a:solidFill>
              <a:srgbClr val="E9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26A09-A367-4AE6-BFE5-B59B4C64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334822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AA3D5-4474-440B-BF25-312AB556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C773B-089D-4F85-ADD1-C9E4E07A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575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9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939"/>
                </a:solidFill>
                <a:latin typeface="Aptos"/>
                <a:ea typeface="Aptos"/>
                <a:cs typeface="Aptos"/>
              </a:rPr>
              <a:t>Hybrid Recall@10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17E75-A0CE-4AD6-B3A8-F3B0AE1D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7662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9525">
            <a:solidFill>
              <a:srgbClr val="E9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22E6A-24B2-4ABE-99BA-F5DB9CA0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76625"/>
            <a:ext cx="479945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38D8E-057E-40AD-AC02-F1C4F38E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480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0.969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B69C0-154E-44C4-94B9-3CFB46FA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5E604-5FA3-4BD3-8F2D-59A436E1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24100"/>
            <a:ext cx="211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7F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B7F5A"/>
                </a:solidFill>
                <a:latin typeface="Aptos"/>
                <a:ea typeface="Aptos"/>
                <a:cs typeface="Aptos"/>
              </a:rPr>
              <a:t>0.863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BEF15-852C-4861-A999-509BD810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622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BM25 MRR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D89F1-2402-4E95-8CBE-76BA8659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064E7-A444-4D23-B2CA-E2F60130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57600"/>
            <a:ext cx="211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7F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B7F5A"/>
                </a:solidFill>
                <a:latin typeface="Aptos"/>
                <a:ea typeface="Aptos"/>
                <a:cs typeface="Aptos"/>
              </a:rPr>
              <a:t>0.890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84098-D488-42B4-8BC4-263810FC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BM25 nDCG@10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510A80-B70B-42C1-B681-16351043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Interpretation: exact legal terms, article numbers and court references make lexical retrieval very competitive.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87C3E-5974-4B14-B04E-EC4FD231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Turkish Legal RAG | CENG493 | 5</a:t>
            </a:r>
          </a:p>
        </p:txBody>
      </p:sp>
    </p:spTree>
    <p:extLst>
      <p:ext uri="{BB962C8B-B14F-4D97-AF65-F5344CB8AC3E}">
        <p14:creationId xmlns:p14="http://schemas.microsoft.com/office/powerpoint/2010/main" val="13386047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68E876-CA19-4035-9CF6-5406CF0C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RERANKER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7EEF1-D754-4DAA-9255-F32BB237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 general-domain multilingual reranker hurts ranking quality.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05EED-6A41-4A91-B138-21A273A8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E41F9-5595-4E6B-A6ED-EC5C5B32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C5FF0-2F42-4F99-8BCE-7E52192E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2410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7F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B7F5A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EEC46-3A92-4942-86FD-43044F6D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62250"/>
            <a:ext cx="220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BM25 first-stage Recall@10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B1194-3EB7-47F7-AEB0-1E6890CE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2104F-C02A-401E-B835-0559A1A6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0.810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CABD0-BB8E-45CE-8D06-0D8FD86C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62250"/>
            <a:ext cx="220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Pretrained reranker Recall@10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3BB7E-DF3E-4DA2-9282-4F737EB4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06E7C-517F-4862-84F3-A47071C2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2410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0.550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5FBE9-5EB7-4802-83D2-757D69EB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62250"/>
            <a:ext cx="220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Pretrained reranker MRR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4D94A-B7ED-409C-B0A6-D5D099CD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Conclusion: the reranker has domain mismatch. The project includes a cross-encoder fine-tuning script using reranker.jsonl.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C53E0-DE5A-4282-A039-D5FFB905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Turkish Legal RAG | CENG493 | 6</a:t>
            </a:r>
          </a:p>
        </p:txBody>
      </p:sp>
    </p:spTree>
    <p:extLst>
      <p:ext uri="{BB962C8B-B14F-4D97-AF65-F5344CB8AC3E}">
        <p14:creationId xmlns:p14="http://schemas.microsoft.com/office/powerpoint/2010/main" val="12123460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943D8F-6D53-43E6-9C95-A2DF259A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EMBEDDING TUNING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47068-29D6-49AD-8AC9-C2D47CFD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Dense retrieval needs Turkish legal domain adaptation.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30858-C8E3-4C86-8AD5-BE1053CD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38109-3CA1-42D2-A39C-114C27F8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Training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9D91E-C067-4B6C-885F-CAAA5DB9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EC855-3541-4D10-9C9E-D89E4996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A4014-51DD-4095-97FD-071D74C4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623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7F5E2-D303-4830-B7F4-5C6BDEE5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4E584-1DB6-4ED7-9571-7A531282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480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positive passage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F8790-CADA-43CA-B4F0-06798D90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244BF-8D15-40CD-B668-1885D21A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991AC-7E19-410C-824D-9A1AF3A2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480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hard negative passage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18172-A35F-43AF-A127-FC65641D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Implemented: triplet-loss fine-tuning script. CPU smoke run confirms train/save/load/index/evaluate works end to 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168C8-5008-40A2-A293-8AD01457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Turkish Legal RAG | CENG493 | 7</a:t>
            </a:r>
          </a:p>
        </p:txBody>
      </p:sp>
    </p:spTree>
    <p:extLst>
      <p:ext uri="{BB962C8B-B14F-4D97-AF65-F5344CB8AC3E}">
        <p14:creationId xmlns:p14="http://schemas.microsoft.com/office/powerpoint/2010/main" val="8169652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ED5FAE-D58B-4338-8C86-586E8ECD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QA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99C9A-6A0D-4DE0-80B8-3ABCE824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Grounded extractive answers are faithful but bounded by source ranking.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C452B-67E2-40CE-B64A-EF51DEE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AF5CD-8199-4D0A-B149-48B83E0C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9C569-907B-47D3-B9A2-F34DE8E2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0.799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D646D-D053-4E2D-8375-0B543214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Token 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195C7-9035-41AF-8CE1-C9881B49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052E7-CD03-487A-B6C5-6C63DA7B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7F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B7F5A"/>
                </a:solidFill>
                <a:latin typeface="Aptos"/>
                <a:ea typeface="Aptos"/>
                <a:cs typeface="Aptos"/>
              </a:rPr>
              <a:t>0.908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CAF9B-356C-4F55-96D8-5989A698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622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Top-5 source hit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836AE-4A99-4259-8F6B-E406FD58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CF46B-6ACB-4703-A03F-3581D547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24100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0.813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5D0FF-2686-4360-A0B0-546AEC8E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622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Citation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21030-1147-411D-B972-01B12E0C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E5298-4495-4585-BE55-7F6E136D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7F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B7F5A"/>
                </a:solidFill>
                <a:latin typeface="Aptos"/>
                <a:ea typeface="Aptos"/>
                <a:cs typeface="Aptos"/>
              </a:rPr>
              <a:t>0.961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5D072-E825-4A53-AB89-2207223D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Faithfulness proxy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814CD-8360-43D3-8353-A5D0A4B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819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Because the baseline cites the top-1 source, citation accuracy tracks top-1 source hit.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5EDF1-4C59-4F98-948B-254E5996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Turkish Legal RAG | CENG493 | 8</a:t>
            </a:r>
          </a:p>
        </p:txBody>
      </p:sp>
    </p:spTree>
    <p:extLst>
      <p:ext uri="{BB962C8B-B14F-4D97-AF65-F5344CB8AC3E}">
        <p14:creationId xmlns:p14="http://schemas.microsoft.com/office/powerpoint/2010/main" val="13541939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3297D1-44B5-4DD2-81C1-A2ADED71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08664-32DE-4B9D-8006-73DFECB0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Failures split cleanly into retrieval and ranking problems.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91C6D-27FF-4F3B-ACCF-5C64E1D8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32198-FAD8-4A09-872B-E853DC46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90750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492C7-66C2-4185-A549-1E8A9790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2410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EFD11-307B-4C08-B891-D27446FB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62250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gold source missing from top-5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19254-3972-477F-89B9-273F8E4A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9767B-F724-42E3-A837-736C1264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97B39-AD1C-4FF9-B03F-F2C3E8D5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gold source in top-5 but not top-1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8436C-24A5-4D98-9D84-47FAD0D5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Optimization map: first-stage retrieval should address the 22 misses; a domain-tuned reranker should address the 23 ranking failures.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04E57-F335-4DAC-B943-02A546F2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Turkish Legal RAG | CENG493 | 9</a:t>
            </a:r>
          </a:p>
        </p:txBody>
      </p:sp>
    </p:spTree>
    <p:extLst>
      <p:ext uri="{BB962C8B-B14F-4D97-AF65-F5344CB8AC3E}">
        <p14:creationId xmlns:p14="http://schemas.microsoft.com/office/powerpoint/2010/main" val="4124971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9756EB-DE37-4A82-8CC6-8DEE7FD2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D8619-6664-4DC9-9FE0-F0C81391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The project is reproducible and identifies the next optimization targets.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62518-A99B-4F38-B0A0-EEF9CBC8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997C4-67A3-4ACA-B8AF-DC260F2A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64141-3A5F-4711-9287-EDDCF019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BM25 is the current strongest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B4525-5AA1-4DAC-93F3-77713F6D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E68E2-C858-4CAE-9121-1E5FEB48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62275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Generic dense embeddings underperform in Turkish legal retrieval.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E6016-F96D-47BB-8576-4638CAE7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0CDA7-F7D4-4A04-B79A-9201E3AF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719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General-domain reranking hurts without legal fine-tuning.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06375-E366-416A-9B66-C8005438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C20C9-D1D4-485C-97E9-97A91CA4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81525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Error analysis tells us where to optimize next.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55C48-4DB0-4BB9-9EE8-CFF54748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Turkish Legal RAG | CENG493 | 10</a:t>
            </a:r>
          </a:p>
        </p:txBody>
      </p:sp>
    </p:spTree>
    <p:extLst>
      <p:ext uri="{BB962C8B-B14F-4D97-AF65-F5344CB8AC3E}">
        <p14:creationId xmlns:p14="http://schemas.microsoft.com/office/powerpoint/2010/main" val="780669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2026-05-21T19:20:28.8130000Z</dcterms:created>
  <dcterms:modified xsi:type="dcterms:W3CDTF">2026-05-21T19:20:28.8130000Z</dcterms:modified>
</coreProperties>
</file>